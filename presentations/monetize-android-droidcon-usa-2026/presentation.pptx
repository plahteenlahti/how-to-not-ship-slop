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65e1b1881f44fc" /><Relationship Type="http://schemas.openxmlformats.org/officeDocument/2006/relationships/extended-properties" Target="/docProps/app.xml" Id="Rd89dc745e2b2478f" /><Relationship Type="http://schemas.openxmlformats.org/officeDocument/2006/relationships/officeDocument" Target="/ppt/presentation.xml" Id="R99a07e76c57145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bfdbff81af4c06"/>
  </p:sldMasterIdLst>
  <p:notesMasterIdLst>
    <p:notesMasterId xmlns:r="http://schemas.openxmlformats.org/officeDocument/2006/relationships" r:id="R0fc2bc09b2e14de9"/>
  </p:notesMasterIdLst>
  <p:sldIdLst>
    <p:sldId xmlns:r="http://schemas.openxmlformats.org/officeDocument/2006/relationships" id="256" r:id="Rbda204433f5f403c"/>
    <p:sldId xmlns:r="http://schemas.openxmlformats.org/officeDocument/2006/relationships" id="257" r:id="R4e2f16bb4ea34ee9"/>
    <p:sldId xmlns:r="http://schemas.openxmlformats.org/officeDocument/2006/relationships" id="258" r:id="R63a5065a8f5a42d3"/>
    <p:sldId xmlns:r="http://schemas.openxmlformats.org/officeDocument/2006/relationships" id="259" r:id="R40afe6748b004199"/>
    <p:sldId xmlns:r="http://schemas.openxmlformats.org/officeDocument/2006/relationships" id="260" r:id="Ree0463b4cdea4aca"/>
    <p:sldId xmlns:r="http://schemas.openxmlformats.org/officeDocument/2006/relationships" id="261" r:id="R17cbd21ff09843c5"/>
    <p:sldId xmlns:r="http://schemas.openxmlformats.org/officeDocument/2006/relationships" id="262" r:id="R200cd5d3476944f8"/>
    <p:sldId xmlns:r="http://schemas.openxmlformats.org/officeDocument/2006/relationships" id="263" r:id="Rdc5f99b49a4d43b8"/>
    <p:sldId xmlns:r="http://schemas.openxmlformats.org/officeDocument/2006/relationships" id="264" r:id="Re21f42460145401e"/>
    <p:sldId xmlns:r="http://schemas.openxmlformats.org/officeDocument/2006/relationships" id="265" r:id="Rdcf019ab1eaa4a3b"/>
    <p:sldId xmlns:r="http://schemas.openxmlformats.org/officeDocument/2006/relationships" id="266" r:id="R6f2bf0bccb414ad1"/>
    <p:sldId xmlns:r="http://schemas.openxmlformats.org/officeDocument/2006/relationships" id="267" r:id="Ra8f4d413a6ca4686"/>
    <p:sldId xmlns:r="http://schemas.openxmlformats.org/officeDocument/2006/relationships" id="268" r:id="R6ba68040e1d947e3"/>
    <p:sldId xmlns:r="http://schemas.openxmlformats.org/officeDocument/2006/relationships" id="269" r:id="Raf33c9ab88314e63"/>
    <p:sldId xmlns:r="http://schemas.openxmlformats.org/officeDocument/2006/relationships" id="270" r:id="R69f90674fe14439b"/>
    <p:sldId xmlns:r="http://schemas.openxmlformats.org/officeDocument/2006/relationships" id="271" r:id="R6369c6902c454de0"/>
    <p:sldId xmlns:r="http://schemas.openxmlformats.org/officeDocument/2006/relationships" id="272" r:id="R921e397467564b2b"/>
    <p:sldId xmlns:r="http://schemas.openxmlformats.org/officeDocument/2006/relationships" id="273" r:id="Rbeda9eaf42834799"/>
    <p:sldId xmlns:r="http://schemas.openxmlformats.org/officeDocument/2006/relationships" id="274" r:id="R40840b7398d2457f"/>
    <p:sldId xmlns:r="http://schemas.openxmlformats.org/officeDocument/2006/relationships" id="275" r:id="R12450d06b54f420b"/>
    <p:sldId xmlns:r="http://schemas.openxmlformats.org/officeDocument/2006/relationships" id="276" r:id="R182df8d0370a4e41"/>
    <p:sldId xmlns:r="http://schemas.openxmlformats.org/officeDocument/2006/relationships" id="277" r:id="Reed12a491c1e47f8"/>
    <p:sldId xmlns:r="http://schemas.openxmlformats.org/officeDocument/2006/relationships" id="278" r:id="R4df4f5de6bea4e99"/>
    <p:sldId xmlns:r="http://schemas.openxmlformats.org/officeDocument/2006/relationships" id="279" r:id="Rc1870b81dbb14357"/>
    <p:sldId xmlns:r="http://schemas.openxmlformats.org/officeDocument/2006/relationships" id="280" r:id="Rd67ce3aee11947e3"/>
    <p:sldId xmlns:r="http://schemas.openxmlformats.org/officeDocument/2006/relationships" id="281" r:id="R3374eaa6f7d947e4"/>
    <p:sldId xmlns:r="http://schemas.openxmlformats.org/officeDocument/2006/relationships" id="282" r:id="R4838f836cb204a4a"/>
    <p:sldId xmlns:r="http://schemas.openxmlformats.org/officeDocument/2006/relationships" id="283" r:id="R3aba69ca697d4c83"/>
    <p:sldId xmlns:r="http://schemas.openxmlformats.org/officeDocument/2006/relationships" id="284" r:id="Rb9cef8068a294eff"/>
    <p:sldId xmlns:r="http://schemas.openxmlformats.org/officeDocument/2006/relationships" id="285" r:id="Rec7596719f3a4f2c"/>
    <p:sldId xmlns:r="http://schemas.openxmlformats.org/officeDocument/2006/relationships" id="286" r:id="R600311b680114359"/>
    <p:sldId xmlns:r="http://schemas.openxmlformats.org/officeDocument/2006/relationships" id="287" r:id="R5885653a7b644cdc"/>
    <p:sldId xmlns:r="http://schemas.openxmlformats.org/officeDocument/2006/relationships" id="288" r:id="Rf9b48b55255e4f2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39752f2ffd48c9" /><Relationship Type="http://schemas.openxmlformats.org/officeDocument/2006/relationships/slideMaster" Target="/ppt/slideMasters/slideMaster1.xml" Id="R2cbfdbff81af4c06" /><Relationship Type="http://schemas.openxmlformats.org/officeDocument/2006/relationships/notesMaster" Target="/ppt/notesMasters/notesMaster1.xml" Id="R0fc2bc09b2e14de9" /><Relationship Type="http://schemas.openxmlformats.org/officeDocument/2006/relationships/presProps" Target="/ppt/presProps.xml" Id="Rb2f35c07e71f4462" /><Relationship Type="http://schemas.openxmlformats.org/officeDocument/2006/relationships/tableStyles" Target="/ppt/tableStyles.xml" Id="R3475d289bf0b4358" /><Relationship Type="http://schemas.openxmlformats.org/officeDocument/2006/relationships/slide" Target="/ppt/slides/slide1.xml" Id="Rbda204433f5f403c" /><Relationship Type="http://schemas.openxmlformats.org/officeDocument/2006/relationships/slide" Target="/ppt/slides/slide2.xml" Id="R4e2f16bb4ea34ee9" /><Relationship Type="http://schemas.openxmlformats.org/officeDocument/2006/relationships/slide" Target="/ppt/slides/slide3.xml" Id="R63a5065a8f5a42d3" /><Relationship Type="http://schemas.openxmlformats.org/officeDocument/2006/relationships/slide" Target="/ppt/slides/slide4.xml" Id="R40afe6748b004199" /><Relationship Type="http://schemas.openxmlformats.org/officeDocument/2006/relationships/slide" Target="/ppt/slides/slide5.xml" Id="Ree0463b4cdea4aca" /><Relationship Type="http://schemas.openxmlformats.org/officeDocument/2006/relationships/slide" Target="/ppt/slides/slide6.xml" Id="R17cbd21ff09843c5" /><Relationship Type="http://schemas.openxmlformats.org/officeDocument/2006/relationships/slide" Target="/ppt/slides/slide7.xml" Id="R200cd5d3476944f8" /><Relationship Type="http://schemas.openxmlformats.org/officeDocument/2006/relationships/slide" Target="/ppt/slides/slide8.xml" Id="Rdc5f99b49a4d43b8" /><Relationship Type="http://schemas.openxmlformats.org/officeDocument/2006/relationships/slide" Target="/ppt/slides/slide9.xml" Id="Re21f42460145401e" /><Relationship Type="http://schemas.openxmlformats.org/officeDocument/2006/relationships/slide" Target="/ppt/slides/slide10.xml" Id="Rdcf019ab1eaa4a3b" /><Relationship Type="http://schemas.openxmlformats.org/officeDocument/2006/relationships/slide" Target="/ppt/slides/slide11.xml" Id="R6f2bf0bccb414ad1" /><Relationship Type="http://schemas.openxmlformats.org/officeDocument/2006/relationships/slide" Target="/ppt/slides/slide12.xml" Id="Ra8f4d413a6ca4686" /><Relationship Type="http://schemas.openxmlformats.org/officeDocument/2006/relationships/slide" Target="/ppt/slides/slide13.xml" Id="R6ba68040e1d947e3" /><Relationship Type="http://schemas.openxmlformats.org/officeDocument/2006/relationships/slide" Target="/ppt/slides/slide14.xml" Id="Raf33c9ab88314e63" /><Relationship Type="http://schemas.openxmlformats.org/officeDocument/2006/relationships/slide" Target="/ppt/slides/slide15.xml" Id="R69f90674fe14439b" /><Relationship Type="http://schemas.openxmlformats.org/officeDocument/2006/relationships/slide" Target="/ppt/slides/slide16.xml" Id="R6369c6902c454de0" /><Relationship Type="http://schemas.openxmlformats.org/officeDocument/2006/relationships/slide" Target="/ppt/slides/slide17.xml" Id="R921e397467564b2b" /><Relationship Type="http://schemas.openxmlformats.org/officeDocument/2006/relationships/slide" Target="/ppt/slides/slide18.xml" Id="Rbeda9eaf42834799" /><Relationship Type="http://schemas.openxmlformats.org/officeDocument/2006/relationships/slide" Target="/ppt/slides/slide19.xml" Id="R40840b7398d2457f" /><Relationship Type="http://schemas.openxmlformats.org/officeDocument/2006/relationships/slide" Target="/ppt/slides/slide20.xml" Id="R12450d06b54f420b" /><Relationship Type="http://schemas.openxmlformats.org/officeDocument/2006/relationships/slide" Target="/ppt/slides/slide21.xml" Id="R182df8d0370a4e41" /><Relationship Type="http://schemas.openxmlformats.org/officeDocument/2006/relationships/slide" Target="/ppt/slides/slide22.xml" Id="Reed12a491c1e47f8" /><Relationship Type="http://schemas.openxmlformats.org/officeDocument/2006/relationships/slide" Target="/ppt/slides/slide23.xml" Id="R4df4f5de6bea4e99" /><Relationship Type="http://schemas.openxmlformats.org/officeDocument/2006/relationships/slide" Target="/ppt/slides/slide24.xml" Id="Rc1870b81dbb14357" /><Relationship Type="http://schemas.openxmlformats.org/officeDocument/2006/relationships/slide" Target="/ppt/slides/slide25.xml" Id="Rd67ce3aee11947e3" /><Relationship Type="http://schemas.openxmlformats.org/officeDocument/2006/relationships/slide" Target="/ppt/slides/slide26.xml" Id="R3374eaa6f7d947e4" /><Relationship Type="http://schemas.openxmlformats.org/officeDocument/2006/relationships/slide" Target="/ppt/slides/slide27.xml" Id="R4838f836cb204a4a" /><Relationship Type="http://schemas.openxmlformats.org/officeDocument/2006/relationships/slide" Target="/ppt/slides/slide28.xml" Id="R3aba69ca697d4c83" /><Relationship Type="http://schemas.openxmlformats.org/officeDocument/2006/relationships/slide" Target="/ppt/slides/slide29.xml" Id="Rb9cef8068a294eff" /><Relationship Type="http://schemas.openxmlformats.org/officeDocument/2006/relationships/slide" Target="/ppt/slides/slide30.xml" Id="Rec7596719f3a4f2c" /><Relationship Type="http://schemas.openxmlformats.org/officeDocument/2006/relationships/slide" Target="/ppt/slides/slide31.xml" Id="R600311b680114359" /><Relationship Type="http://schemas.openxmlformats.org/officeDocument/2006/relationships/slide" Target="/ppt/slides/slide32.xml" Id="R5885653a7b644cdc" /><Relationship Type="http://schemas.openxmlformats.org/officeDocument/2006/relationships/slide" Target="/ppt/slides/slide33.xml" Id="Rf9b48b55255e4f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d35d34581f4f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5fe6b3d8954826" /><Relationship Type="http://schemas.openxmlformats.org/officeDocument/2006/relationships/notesMaster" Target="/ppt/notesMasters/notesMaster1.xml" Id="R0bdf6a277b4749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142a0ad4894b82" /><Relationship Type="http://schemas.openxmlformats.org/officeDocument/2006/relationships/notesMaster" Target="/ppt/notesMasters/notesMaster1.xml" Id="Ra4f64b66ba2041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67282176a34bdc" /><Relationship Type="http://schemas.openxmlformats.org/officeDocument/2006/relationships/notesMaster" Target="/ppt/notesMasters/notesMaster1.xml" Id="Rb748d9f765564d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d126d2c98f49d0" /><Relationship Type="http://schemas.openxmlformats.org/officeDocument/2006/relationships/notesMaster" Target="/ppt/notesMasters/notesMaster1.xml" Id="R1b8d546ab90544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bab28b478d4235" /><Relationship Type="http://schemas.openxmlformats.org/officeDocument/2006/relationships/notesMaster" Target="/ppt/notesMasters/notesMaster1.xml" Id="R0e330499403c4e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dc77c0f322494e" /><Relationship Type="http://schemas.openxmlformats.org/officeDocument/2006/relationships/notesMaster" Target="/ppt/notesMasters/notesMaster1.xml" Id="R4bc274d5f21c4b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622e1cda7c466d" /><Relationship Type="http://schemas.openxmlformats.org/officeDocument/2006/relationships/notesMaster" Target="/ppt/notesMasters/notesMaster1.xml" Id="Rdcc14862c49048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4bd4c95f3d4aee" /><Relationship Type="http://schemas.openxmlformats.org/officeDocument/2006/relationships/notesMaster" Target="/ppt/notesMasters/notesMaster1.xml" Id="Rce7bd61778c845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a0555469cf46ea" /><Relationship Type="http://schemas.openxmlformats.org/officeDocument/2006/relationships/notesMaster" Target="/ppt/notesMasters/notesMaster1.xml" Id="R7d9c76a58f5444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3673cce4114a8b" /><Relationship Type="http://schemas.openxmlformats.org/officeDocument/2006/relationships/notesMaster" Target="/ppt/notesMasters/notesMaster1.xml" Id="Rc06c08e056fd4b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dede7ec6384b5d" /><Relationship Type="http://schemas.openxmlformats.org/officeDocument/2006/relationships/notesMaster" Target="/ppt/notesMasters/notesMaster1.xml" Id="R995d0b66afe544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71f2d6e02543bb" /><Relationship Type="http://schemas.openxmlformats.org/officeDocument/2006/relationships/notesMaster" Target="/ppt/notesMasters/notesMaster1.xml" Id="Rb5a97519510640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a2e0972ddc4d0b" /><Relationship Type="http://schemas.openxmlformats.org/officeDocument/2006/relationships/notesMaster" Target="/ppt/notesMasters/notesMaster1.xml" Id="R559bffeb220c4f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78d244613a0465e" /><Relationship Type="http://schemas.openxmlformats.org/officeDocument/2006/relationships/notesMaster" Target="/ppt/notesMasters/notesMaster1.xml" Id="R1489521fad83494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664bd23fbe415a" /><Relationship Type="http://schemas.openxmlformats.org/officeDocument/2006/relationships/notesMaster" Target="/ppt/notesMasters/notesMaster1.xml" Id="R7e7a913eca834c6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b8cc8cd497c4353" /><Relationship Type="http://schemas.openxmlformats.org/officeDocument/2006/relationships/notesMaster" Target="/ppt/notesMasters/notesMaster1.xml" Id="R9c899fa9f78649a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c0fa796718341b2" /><Relationship Type="http://schemas.openxmlformats.org/officeDocument/2006/relationships/notesMaster" Target="/ppt/notesMasters/notesMaster1.xml" Id="R151598b16d7d4b7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3bd50be15664259" /><Relationship Type="http://schemas.openxmlformats.org/officeDocument/2006/relationships/notesMaster" Target="/ppt/notesMasters/notesMaster1.xml" Id="Re3d83d022b3343b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49511b7072342e6" /><Relationship Type="http://schemas.openxmlformats.org/officeDocument/2006/relationships/notesMaster" Target="/ppt/notesMasters/notesMaster1.xml" Id="Rd6769dcc05444cd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ab833818d894e57" /><Relationship Type="http://schemas.openxmlformats.org/officeDocument/2006/relationships/notesMaster" Target="/ppt/notesMasters/notesMaster1.xml" Id="Rac51dda1011b438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89728e742e04a88" /><Relationship Type="http://schemas.openxmlformats.org/officeDocument/2006/relationships/notesMaster" Target="/ppt/notesMasters/notesMaster1.xml" Id="Re63aa3ea09cb495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29cd20b51524601" /><Relationship Type="http://schemas.openxmlformats.org/officeDocument/2006/relationships/notesMaster" Target="/ppt/notesMasters/notesMaster1.xml" Id="R226d49052a83416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b9f980d849243ac" /><Relationship Type="http://schemas.openxmlformats.org/officeDocument/2006/relationships/notesMaster" Target="/ppt/notesMasters/notesMaster1.xml" Id="R0a6228ca7c9f433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4bfb68973db4e27" /><Relationship Type="http://schemas.openxmlformats.org/officeDocument/2006/relationships/notesMaster" Target="/ppt/notesMasters/notesMaster1.xml" Id="Rfc7ac70c16684cd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1f5b03db563452b" /><Relationship Type="http://schemas.openxmlformats.org/officeDocument/2006/relationships/notesMaster" Target="/ppt/notesMasters/notesMaster1.xml" Id="R71ee913536eb414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1e2ab170b9a4421" /><Relationship Type="http://schemas.openxmlformats.org/officeDocument/2006/relationships/notesMaster" Target="/ppt/notesMasters/notesMaster1.xml" Id="R0a543ac9e14a407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d4955f893624b63" /><Relationship Type="http://schemas.openxmlformats.org/officeDocument/2006/relationships/notesMaster" Target="/ppt/notesMasters/notesMaster1.xml" Id="R62fbcec66a63432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c67ec01e5b444d5" /><Relationship Type="http://schemas.openxmlformats.org/officeDocument/2006/relationships/notesMaster" Target="/ppt/notesMasters/notesMaster1.xml" Id="R2686aef10f214e2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33b60c3dcfc4105" /><Relationship Type="http://schemas.openxmlformats.org/officeDocument/2006/relationships/notesMaster" Target="/ppt/notesMasters/notesMaster1.xml" Id="R6d426bf127e4434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e1ed10912814c56" /><Relationship Type="http://schemas.openxmlformats.org/officeDocument/2006/relationships/notesMaster" Target="/ppt/notesMasters/notesMaster1.xml" Id="Rf76ddd6b5de24c0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ed0d126c8c04e08" /><Relationship Type="http://schemas.openxmlformats.org/officeDocument/2006/relationships/notesMaster" Target="/ppt/notesMasters/notesMaster1.xml" Id="Rc61be2cf9e9f499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6d6271639234704" /><Relationship Type="http://schemas.openxmlformats.org/officeDocument/2006/relationships/notesMaster" Target="/ppt/notesMasters/notesMaster1.xml" Id="Rc3b61c04e7864dc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b5e4168cdc74bd7" /><Relationship Type="http://schemas.openxmlformats.org/officeDocument/2006/relationships/notesMaster" Target="/ppt/notesMasters/notesMaster1.xml" Id="Raab992ada2d240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monetization as product design, not extraction. This talk builds the whole path from value to durable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Many strong apps never become durable businesses because billing is postponed until launch week.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introduction short. Establish Android and subscription credibility, then continue.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system framing is the backbone. A checkout button can work while the business still fails.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Android disadvantage is early in the funnel. Once users start a trial, median paid conversion is essentially at parity with 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dependency chain as the agenda: model, catalog, paywall, entitlement, routes.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right model follows the frequency and shape of value. Hybrid models are valid when each layer has a clear job.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Ads are operationally simple but product-expensive: incentives bend toward more attention, not always better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Examples include AI credits, cloud render minutes, storage, or game boosts. Make one unit understandable.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Recurring payment is fair only when value recurs. Trials and annual plans are tools, not retention substitutes.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Virtual currency can match variable cost, including AI inference. It becomes hostile when the exchange rate is intentionally unreadable.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button is one transition in a longer state machine. Walk through each state and ask who owns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RevenueCat removes the store state machine from the app team’s critical path. Pricing was rechecked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app should never reason from a raw receipt or SKU. It should ask for customer state, then make one access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UI module includes the core SDK, so most Compose apps only need purchases-ui. Verify versions before shipping.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Configure in Application.onCreate with the public SDK key. DEBUG logging is for development.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Identity is where cross-device bugs begin. Anonymous is valid; custom IDs should be stable, private, and owned by authentication.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is the store SKU. Package normalizes platforms. Offering is what you sell. Paywall is how. Entitlement is what the customer gets.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Fetch the current offering with the coroutine API. Treat null, timeout, and misconfigured catalog states deliberately.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app renders native UI; the team keeps learning and changing decisions in the dashboard.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reflects the current Android Compose API shape. The key product choice is the required entitlement.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five questions as a live critique framework. The outcome comes before the price.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Changing everything at once can improve conversion while teaching nothing. Tie the hypothesis to one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Entitlements are the stability layer across replaced SKUs, web products, and promotional grants.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Preserve the last known access state during transient errors rather than punishing a paying customer.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Restore only from an explicit user action. Feed CustomerInfo through the same entitlement gate used after purchase.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web as an acquisition channel: email, creators, ads, bundles, and win-back can all enter the same entitlement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transaction is not complete for the customer until the app opens and access appears. Mention the email fallback.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volatile. Current U.S. programs allow alternative routes under requirements: enrollment, choice UI, current API, and reporting.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Put eligibility and route selection behind one remotely controlled configuration object. Default safely to Play Billing.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happy path is the demo. The unhappy paths are the product. Invite the audience to photograph the checklist.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Return the system to one sentence: value rhythm first, infrastructure second, optimization third.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QR opens the full article and implementation resources. Close on the maker and take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2940274b3b42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44dacc9bde4082" /><Relationship Type="http://schemas.openxmlformats.org/officeDocument/2006/relationships/slideLayout" Target="/ppt/slideLayouts/slideLayout1.xml" Id="R1d0da61a5f6e40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0da61a5f6e40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2818fee7d444b" /><Relationship Type="http://schemas.openxmlformats.org/officeDocument/2006/relationships/image" Target="/ppt/media/image.png" Id="R34739e5c2e584ab4" /><Relationship Type="http://schemas.openxmlformats.org/officeDocument/2006/relationships/notesSlide" Target="/ppt/notesSlides/notesSlide1.xml" Id="Rf2d81aaff27247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d935e04f64216" /><Relationship Type="http://schemas.openxmlformats.org/officeDocument/2006/relationships/notesSlide" Target="/ppt/notesSlides/notesSlide2.xml" Id="R3f140f9c1ab147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fbe8c9d40409c" /><Relationship Type="http://schemas.openxmlformats.org/officeDocument/2006/relationships/image" Target="/ppt/media/image2.png" Id="R89de3f53c4ab4df4" /><Relationship Type="http://schemas.openxmlformats.org/officeDocument/2006/relationships/notesSlide" Target="/ppt/notesSlides/notesSlide3.xml" Id="Rb27f527301584e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07524de004c8f" /><Relationship Type="http://schemas.openxmlformats.org/officeDocument/2006/relationships/notesSlide" Target="/ppt/notesSlides/notesSlide4.xml" Id="R073e4a83008149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9c04644f6498b" /><Relationship Type="http://schemas.openxmlformats.org/officeDocument/2006/relationships/notesSlide" Target="/ppt/notesSlides/notesSlide5.xml" Id="R23dc854412ea41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716a8144d429e" /><Relationship Type="http://schemas.openxmlformats.org/officeDocument/2006/relationships/notesSlide" Target="/ppt/notesSlides/notesSlide6.xml" Id="Rf0c6177de85a4d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10c6804594ff7" /><Relationship Type="http://schemas.openxmlformats.org/officeDocument/2006/relationships/notesSlide" Target="/ppt/notesSlides/notesSlide7.xml" Id="Rebe70abf171e4d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2206319944885" /><Relationship Type="http://schemas.openxmlformats.org/officeDocument/2006/relationships/image" Target="/ppt/media/image3.png" Id="R7a026a2db1384af0" /><Relationship Type="http://schemas.openxmlformats.org/officeDocument/2006/relationships/notesSlide" Target="/ppt/notesSlides/notesSlide8.xml" Id="R22ce75b77ae441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d6e2929c64270" /><Relationship Type="http://schemas.openxmlformats.org/officeDocument/2006/relationships/image" Target="/ppt/media/image4.png" Id="Rc17d7b55bbe84162" /><Relationship Type="http://schemas.openxmlformats.org/officeDocument/2006/relationships/notesSlide" Target="/ppt/notesSlides/notesSlide9.xml" Id="R0bd22bb4edee40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04d95ee5649ac" /><Relationship Type="http://schemas.openxmlformats.org/officeDocument/2006/relationships/image" Target="/ppt/media/image5.png" Id="Red7952bd8b164f84" /><Relationship Type="http://schemas.openxmlformats.org/officeDocument/2006/relationships/notesSlide" Target="/ppt/notesSlides/notesSlide10.xml" Id="Ra6e9b5ffd0094b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8ba51787e499c" /><Relationship Type="http://schemas.openxmlformats.org/officeDocument/2006/relationships/image" Target="/ppt/media/image6.png" Id="R717ba2b98c05435c" /><Relationship Type="http://schemas.openxmlformats.org/officeDocument/2006/relationships/notesSlide" Target="/ppt/notesSlides/notesSlide11.xml" Id="Rf3d523a11dfd44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84d317b154028" /><Relationship Type="http://schemas.openxmlformats.org/officeDocument/2006/relationships/notesSlide" Target="/ppt/notesSlides/notesSlide12.xml" Id="Rb042fdb3b58844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b04f296074526" /><Relationship Type="http://schemas.openxmlformats.org/officeDocument/2006/relationships/image" Target="/ppt/media/image7.png" Id="R0a4aa4bd358a4ab6" /><Relationship Type="http://schemas.openxmlformats.org/officeDocument/2006/relationships/notesSlide" Target="/ppt/notesSlides/notesSlide13.xml" Id="R1d19b17041c345e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d8de289304b8d" /><Relationship Type="http://schemas.openxmlformats.org/officeDocument/2006/relationships/notesSlide" Target="/ppt/notesSlides/notesSlide14.xml" Id="R9aac53282862415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4d5fd34884e95" /><Relationship Type="http://schemas.openxmlformats.org/officeDocument/2006/relationships/notesSlide" Target="/ppt/notesSlides/notesSlide15.xml" Id="R60fcb8006b7e49b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1efe123a049b1" /><Relationship Type="http://schemas.openxmlformats.org/officeDocument/2006/relationships/notesSlide" Target="/ppt/notesSlides/notesSlide16.xml" Id="Rcd54dc3bb1d747f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d5dc315a842b5" /><Relationship Type="http://schemas.openxmlformats.org/officeDocument/2006/relationships/notesSlide" Target="/ppt/notesSlides/notesSlide17.xml" Id="R2d316d678a594c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63345a0f34602" /><Relationship Type="http://schemas.openxmlformats.org/officeDocument/2006/relationships/notesSlide" Target="/ppt/notesSlides/notesSlide18.xml" Id="Ra13bc28818e449c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0548fd5744ec1" /><Relationship Type="http://schemas.openxmlformats.org/officeDocument/2006/relationships/notesSlide" Target="/ppt/notesSlides/notesSlide19.xml" Id="R6527c8aa1a5649d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ad85c61124488" /><Relationship Type="http://schemas.openxmlformats.org/officeDocument/2006/relationships/image" Target="/ppt/media/image8.png" Id="R6de57047e78945aa" /><Relationship Type="http://schemas.openxmlformats.org/officeDocument/2006/relationships/notesSlide" Target="/ppt/notesSlides/notesSlide20.xml" Id="Rba5355bbc0b848e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ec60ad518465e" /><Relationship Type="http://schemas.openxmlformats.org/officeDocument/2006/relationships/notesSlide" Target="/ppt/notesSlides/notesSlide21.xml" Id="Rfec099d67fc548d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fcc3965854c85" /><Relationship Type="http://schemas.openxmlformats.org/officeDocument/2006/relationships/notesSlide" Target="/ppt/notesSlides/notesSlide22.xml" Id="Ra9636d39e8994e3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859210bdd4f6b" /><Relationship Type="http://schemas.openxmlformats.org/officeDocument/2006/relationships/image" Target="/ppt/media/image9.png" Id="Rdb4666a7f4e3423c" /><Relationship Type="http://schemas.openxmlformats.org/officeDocument/2006/relationships/notesSlide" Target="/ppt/notesSlides/notesSlide23.xml" Id="R7f7793a84ffb490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ec9861883461a" /><Relationship Type="http://schemas.openxmlformats.org/officeDocument/2006/relationships/notesSlide" Target="/ppt/notesSlides/notesSlide24.xml" Id="Re11108f7158e4f6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f06e9d3594320" /><Relationship Type="http://schemas.openxmlformats.org/officeDocument/2006/relationships/image" Target="/ppt/media/image10.png" Id="Rb2dae35e9e6d49f5" /><Relationship Type="http://schemas.openxmlformats.org/officeDocument/2006/relationships/notesSlide" Target="/ppt/notesSlides/notesSlide25.xml" Id="R0d3b3f613c77450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dcf43e029498f" /><Relationship Type="http://schemas.openxmlformats.org/officeDocument/2006/relationships/notesSlide" Target="/ppt/notesSlides/notesSlide26.xml" Id="R6966054a57254f4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31f135d054f0d" /><Relationship Type="http://schemas.openxmlformats.org/officeDocument/2006/relationships/image" Target="/ppt/media/image11.png" Id="R43cfe1ea3bfc4fef" /><Relationship Type="http://schemas.openxmlformats.org/officeDocument/2006/relationships/image" Target="/ppt/media/image12.png" Id="Rab65d1a183084bc8" /><Relationship Type="http://schemas.openxmlformats.org/officeDocument/2006/relationships/notesSlide" Target="/ppt/notesSlides/notesSlide27.xml" Id="R85e14172d6b94a1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37155d33a4d65" /><Relationship Type="http://schemas.openxmlformats.org/officeDocument/2006/relationships/image" Target="/ppt/media/image13.png" Id="R1f57a75b860543b7" /><Relationship Type="http://schemas.openxmlformats.org/officeDocument/2006/relationships/notesSlide" Target="/ppt/notesSlides/notesSlide28.xml" Id="Rc0539039db85403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66342fc5041d7" /><Relationship Type="http://schemas.openxmlformats.org/officeDocument/2006/relationships/notesSlide" Target="/ppt/notesSlides/notesSlide29.xml" Id="R129e94280f41461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9aaadebd941e7" /><Relationship Type="http://schemas.openxmlformats.org/officeDocument/2006/relationships/notesSlide" Target="/ppt/notesSlides/notesSlide30.xml" Id="Re56fb05b3b2c40c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5553ab4ce42c4" /><Relationship Type="http://schemas.openxmlformats.org/officeDocument/2006/relationships/notesSlide" Target="/ppt/notesSlides/notesSlide31.xml" Id="R03b3510369a1402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4b9a39dbb4d39" /><Relationship Type="http://schemas.openxmlformats.org/officeDocument/2006/relationships/notesSlide" Target="/ppt/notesSlides/notesSlide32.xml" Id="R4a79163f1f23460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38774c877469a" /><Relationship Type="http://schemas.openxmlformats.org/officeDocument/2006/relationships/image" Target="/ppt/media/image14.png" Id="Re078589996554852" /><Relationship Type="http://schemas.openxmlformats.org/officeDocument/2006/relationships/image" Target="/ppt/media/image.jpeg" Id="R0a884be924b1440f" /><Relationship Type="http://schemas.openxmlformats.org/officeDocument/2006/relationships/notesSlide" Target="/ppt/notesSlides/notesSlide33.xml" Id="R1f4232ba14ec49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FC9AC3-DFAC-45DF-B365-8F592765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3B473-32DD-4273-9AF9-0231C219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D65AC-4933-4C19-A420-89944C57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ANDROID MONETIZATION, WITHOUT THE MAZE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31C2C-0EB1-4CCB-AB47-AFEA4125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6286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10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Monetize your Android app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510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the right way.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0C544-42CA-4FE5-B228-CE116707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Perttu Lähteenlahti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Senior Developer Advocate, RevenueCat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39e5c2e584ab4"/>
          <a:stretch xmlns:a="http://schemas.openxmlformats.org/drawingml/2006/main"/>
        </p:blipFill>
        <p:spPr>
          <a:xfrm xmlns:a="http://schemas.openxmlformats.org/drawingml/2006/main">
            <a:off x="7096125" y="1934387"/>
            <a:ext cx="4524375" cy="27415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52E50-0516-455A-AA5F-F9DF8D60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39D9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39D9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440922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313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A05326-76AC-4637-9974-2405D209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D3B0C-A58C-4954-9750-99CE7A18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7A29A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7A29A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C5AC4-F383-435E-B14B-41656C93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THE UNCOMFORTABLE TRUTH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9B9D6-7CD7-460F-A96B-820D5755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9334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4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great app with no business model is still a side project.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769FD-A9CC-4251-BECC-2E812BA5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148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25" b="0" i="0">
                <a:solidFill>
                  <a:srgbClr val="E7EA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E7EAFF"/>
                </a:solidFill>
                <a:latin typeface="Arial"/>
                <a:ea typeface="Arial"/>
                <a:cs typeface="Arial"/>
              </a:rPr>
              <a:t>Monetization is part of product design, not the thing you bolt on at launch.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C509C-86C6-4249-B666-C2E17E1A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8F8A8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8F8A8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823105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6EB7D3-F28C-4DB5-BD75-B3E31B72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D51C1-5B5F-4BD9-BDAB-724D72F4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2EB75-A256-47C2-9C1D-8F1766F1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PERTTU LÄHTEENLAHTI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2A736-AC50-4D44-AF2E-142BCA96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552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I help developers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90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make more money.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72D35-75FA-4D2E-A1F9-8EF83B71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71EB4-8A19-4DA9-A1ED-5D32777D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499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Senior Developer Advocate at RevenueCat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F905D-C28B-4211-941C-01C88A8C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CB9BC-741B-406B-B91F-A68E8146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499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Android, Flutter, and subscription infrastructure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1E6DF7-CB94-4BC5-BFC0-3E23EED5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72C4E-07AF-47AC-8668-F146724E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DF7E6-C554-45F4-8BE9-22279AE1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499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@plahteenlahti · perttu.dev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DA8EF-69D3-4A34-BBA2-55B51BD7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e3f53c4ab4df4"/>
          <a:srcRect xmlns:a="http://schemas.openxmlformats.org/drawingml/2006/main" l="15385" t="0" r="153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876300"/>
            <a:ext cx="3429000" cy="4953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76BAF0-44BB-47A9-854E-122E8486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39D9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39D9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994238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596FD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B3997B-84BD-4490-B62B-15A1BEB6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656CA-8FC5-4090-8D71-B8413E17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7A29A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7A29A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8B553-7853-4205-AA09-9FD82730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E869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E869"/>
                </a:solidFill>
                <a:latin typeface="Menlo"/>
                <a:ea typeface="Menlo"/>
                <a:cs typeface="Menlo"/>
              </a:rPr>
              <a:t>THE 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87A54-C435-41DD-83F0-47B909D7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9334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4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Monetization is a system, not a checkout button.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753F4-D8A0-430D-AF10-A05589F6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148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25" b="0" i="0">
                <a:solidFill>
                  <a:srgbClr val="E7EA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E7EAFF"/>
                </a:solidFill>
                <a:latin typeface="Arial"/>
                <a:ea typeface="Arial"/>
                <a:cs typeface="Arial"/>
              </a:rPr>
              <a:t>Model, catalog, identity, paywall, access, recovery, measurement.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0B312-BBB5-4EE2-8D75-0F5DCA0B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8F8A8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8F8A84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611657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19CFA3-FC08-4E93-9F25-67F5B869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E81A9-E766-42C2-9DBE-D552E82F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0D880-BE33-45AE-9562-0E68C41A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115,000+ SUBSCRIPTION APPS · $16B+ OBSERVED REVENUE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FBF6F-7412-4E4D-9442-34E89D88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9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75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Android’s gap happens before the trial.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12157-7DA7-4974-8D11-D1C068AF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5B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CB104-AF81-4FB1-9DEA-53589CBC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65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0.9%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C9D66-ABAE-40E5-AC70-5FDFCFE8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309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Google Play median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download → paid by day 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D7E37-1CB9-42F6-B78B-71385944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0350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5B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B24F1-3052-4353-8B57-6160D3A0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90850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65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2.6%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9F171-7706-4037-9824-8571E4DD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00500"/>
            <a:ext cx="309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App Store median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download → paid by day 35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9201C-4529-4634-8B90-196CD8B7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0350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5B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7FD0E-4285-470D-B4BD-2AF26FD6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90850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65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32.5%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6DA33-B57F-4494-A19B-82E189E4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00500"/>
            <a:ext cx="309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Google Play median trial → paid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— almost identical to 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223F4-F26E-4D5E-96B0-F22B3F00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914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750" b="0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RevenueCat · State of Subscription Apps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C8561-FA84-418D-9D09-4B4D4134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39D9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39D94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889977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2F1ED1-FCDE-4A2C-A658-050FB605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C157E-10FD-4420-8DD7-3617B3B0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8E19C-7C99-4E40-9539-F056D22B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84D4F-5993-4C83-84F8-0540BDD3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23950"/>
            <a:ext cx="838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75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Build the whole path from value to access.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31154-2550-4AE8-ABBF-8E761EB4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0A842-7B0F-4AE4-A4F1-772F83DC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648E5-47C1-4605-A808-ED28FEC6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AFD36-39C0-4546-93FE-91B8ED60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What customers pay for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49DB4-E01A-46D5-B120-15D33F49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527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41BD7-55BE-400A-9906-0531AB7E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62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B060D-187E-458A-8A36-AA2A5CBE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62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CATALOG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AAC33-7E13-4B3A-8707-1183BF93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195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Products, packages, offerings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B4AF8C-E376-4F94-93BD-1DCDEAA5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527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E9685-B439-4008-94DF-E5AD64B6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62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CD974A-7B83-4718-BEB4-1A8C6BC3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62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PAYWALL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2494FE-B654-49AF-BA29-E0E6289F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195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How the choice is presented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1C0D8B-D4E4-457C-AA30-6D5E1983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527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34544-3008-47CE-B898-C352966B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62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9DA9DD-AEC5-455C-9532-7C098F20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62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ENTITLEMENT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8EE8D7-665B-4B83-9DD3-5FACC634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195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What the purchase unlocks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8EDA78-4A5D-4385-88DF-CCDB400F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527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F75909-065C-4657-8E3D-2828D2E9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62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62DA68-7DE5-4122-A4DB-52B0249A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62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ROUTES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D0D712-B44B-417E-B1F4-18A4B274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195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Store, web, restore, 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3AE9BC-25F1-4950-8EE9-F699226E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39D9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39D94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029263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C0DD02-3BCB-4885-AEFB-A6730F1F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F4F5D-99A2-4544-B546-3E40F635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9BE02-4EAB-4C1A-A7E3-2DDA6C12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CHOOSE THE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BFE83-F491-4E45-9AC6-A6F65EBC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2395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3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Charge in the same rhythm that users receive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6C798-76F0-4B85-9B56-B8DBA9C9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9240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58DD0-F84D-4D66-8779-A99D84BC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C13D4-104D-4287-A7E4-826E2335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PAID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BEF8C-1E85-4495-851E-1D36C532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158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One payment before the first experience.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49D6B-8F08-4EC1-B545-066CCED6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482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Durable utility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19ED1-B952-471B-99C0-89BCA2BC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09850"/>
            <a:ext cx="19240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8EC8E-290F-4C90-87CA-7785E2A3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003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55BA6-A268-4560-997C-51FCE6EF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956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ADS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AE526-D469-4E6B-839E-B91BCACC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962400"/>
            <a:ext cx="158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Monetize attention across a large free audience.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6823D-FB04-4AF1-A199-925AFA05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482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263DCE-3CC8-4D34-85DF-AB9ABED2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09850"/>
            <a:ext cx="19240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8E2A23-873A-4081-A1DD-E807A8CE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003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16BEB-B78A-44CF-AF6E-47185824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956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CONSUMABLES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56CFAF-B887-4BC5-AB98-BCF392B9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62400"/>
            <a:ext cx="158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Pay whenever a scarce unit is used.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1DAB3-F8F5-4B5A-BDB5-8791F9CC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482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Credits / boosts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DC96FB-C9AF-47DB-918A-5391C397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09850"/>
            <a:ext cx="19240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3"/>
          </a:solidFill>
          <a:ln xmlns:a="http://schemas.openxmlformats.org/drawingml/2006/main" w="9525">
            <a:solidFill>
              <a:srgbClr val="13131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A57EB2-42BD-430C-BB7D-B08999EC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B5BF33-55A4-46FE-90BE-C35AD1CA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956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SUBSCRIPTION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861E2-39FD-45A4-AB68-1225D5F3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62400"/>
            <a:ext cx="158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C5C1B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5C1BA"/>
                </a:solidFill>
                <a:latin typeface="Arial"/>
                <a:ea typeface="Arial"/>
                <a:cs typeface="Arial"/>
              </a:rPr>
              <a:t>Recurring payment for recurring outcomes.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595066-1F24-4429-8E69-E7541C73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482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4E86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E869"/>
                </a:solidFill>
                <a:latin typeface="Arial"/>
                <a:ea typeface="Arial"/>
                <a:cs typeface="Arial"/>
              </a:rPr>
              <a:t>Evolving products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924ABE-0825-4BE4-8996-0AF7534D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09850"/>
            <a:ext cx="19240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73094E-6B86-4A34-B231-31BDE0B5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03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17B137-5B81-4A0F-BF79-80AB6EF8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956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CURRENCY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01214F-CA89-42B6-B2E3-CC0AE01E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962400"/>
            <a:ext cx="158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A wallet for repeated micro-transactions.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E4F616-FD5B-41B6-BC67-52715CC2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482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Economies / AI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A9FCA1-8B5F-45E7-9A8F-AAC544CD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39D9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39D94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766835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97859F-FEF4-4117-891A-C192EA5C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70856-7BA8-4EB1-BEBB-74686AD7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DB328-3ACA-4C5A-B3D7-5DBCBC16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ADS · MONETIZE AT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9A989-C4EB-4A29-8627-50D86FB9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75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Ads optimize attention, not access.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63F88-7331-4761-A99C-3D9AEB4D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17A89-9335-4166-AE7C-5A8A2C46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50387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Low friction for a large free audience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34C0E-52E8-4D3A-991C-F53F3C18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81425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B8409-8536-46F9-B5ED-7A8DC595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81425"/>
            <a:ext cx="50387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Revenue grows with sessions and inventory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0152E-77FC-44F6-B7FA-69817570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861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3CBD9-BB5C-458D-871C-13CB9D25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4F4D1-4684-4292-9FC9-FEF8604E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50387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Experience cost: distraction, privacy, performance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EB026-7346-4748-867E-43C0960C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26a2db1384af0"/>
          <a:stretch xmlns:a="http://schemas.openxmlformats.org/drawingml/2006/main"/>
        </p:blipFill>
        <p:spPr>
          <a:xfrm xmlns:a="http://schemas.openxmlformats.org/drawingml/2006/main">
            <a:off x="7029450" y="2185392"/>
            <a:ext cx="4286250" cy="2411016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04908-1580-4351-B285-4A73F505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39D9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39D94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203111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313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057D1A-61A3-4890-ADD7-1BD7121A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C7466-08DB-4D7B-A708-47BCC8BD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7736C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7736C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134F6-94EC-4C57-B2F1-E8763148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CONSUMABLES · PAY AS YOU GO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7d7b55bbe84162"/>
          <a:stretch xmlns:a="http://schemas.openxmlformats.org/drawingml/2006/main"/>
        </p:blipFill>
        <p:spPr>
          <a:xfrm xmlns:a="http://schemas.openxmlformats.org/drawingml/2006/main">
            <a:off x="590550" y="2093119"/>
            <a:ext cx="4953000" cy="278606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805A9-CAB7-4DA5-88B2-C7B42686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28750"/>
            <a:ext cx="4953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If value gets used up, sell it in units.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4B543-DDDB-481F-AF34-64A43FC6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D23F3-1164-46F5-854C-A391E2C4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461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Coins, credits, boosts, tokens, extra 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85CD4-F576-48C0-BCA3-72890145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1955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68AA1-0F5C-44EE-AAE5-B33FE41D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9550"/>
            <a:ext cx="461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Easy entry; revenue depends on repeat 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50D56-740A-4A46-AEB8-77AE65A8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243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37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C1E8C-63EE-4398-9590-EA066031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1010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98CB0D-4EAD-46BD-ABCE-A4A93B16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10100"/>
            <a:ext cx="461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the unit legible before setting the price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72A11-5A2C-4F9A-A7CD-1D7B9C50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37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4EA497-4EB8-471F-B74D-E92F774B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7736C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7736C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473166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A85503-9169-4CF1-9339-0C7BC37D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3F14A-C607-46BC-B0AA-392F02F0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E39A1-B206-4E56-BA49-86992777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SUBSCRIPTIONS · RECURRING REVENUE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D321E-0A4C-4BF2-B4D8-89025D5B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A subscription is a promise you must keep renewing.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90171-625F-4520-85B8-7D008E78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A6D1B-889A-4B7E-A874-4ABF31A0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5372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Predictable revenue and stronger commitment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696B9-3F35-41AD-97B5-203CFE4F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8C51D-ADC3-4371-873F-D0F224F2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5372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Trials, intro offers, and regional pricing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940D1-9803-4BDF-9E1A-C199A4C8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48127-4679-4858-BEC9-D9EE40FA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62475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7F998-793E-4093-B816-9940A6E8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62475"/>
            <a:ext cx="5372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Churn is feedback: ongoing value was not obvious enough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316754-3ACA-4B66-B036-B0808518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67225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952bd8b164f84"/>
          <a:stretch xmlns:a="http://schemas.openxmlformats.org/drawingml/2006/main"/>
        </p:blipFill>
        <p:spPr>
          <a:xfrm xmlns:a="http://schemas.openxmlformats.org/drawingml/2006/main">
            <a:off x="7048500" y="1691529"/>
            <a:ext cx="4095750" cy="3417791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8C7FA-499D-42DE-915B-11234717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39D9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39D94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233221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E8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CD6682-3C68-4007-BEDD-4C245726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F3D78-31B5-48F8-B48C-D69B3BEB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C48F2-97E4-4B01-BD99-EFA1C607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8B7600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8B7600"/>
                </a:solidFill>
                <a:latin typeface="Menlo"/>
                <a:ea typeface="Menlo"/>
                <a:cs typeface="Menlo"/>
              </a:rPr>
              <a:t>VIRTUAL CURRENCY · FLEXIBLE, BUT NOT VAGUE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ba2b98c05435c"/>
          <a:stretch xmlns:a="http://schemas.openxmlformats.org/drawingml/2006/main"/>
        </p:blipFill>
        <p:spPr>
          <a:xfrm xmlns:a="http://schemas.openxmlformats.org/drawingml/2006/main">
            <a:off x="1759986" y="1000125"/>
            <a:ext cx="2290279" cy="4953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A0B16-0E3C-43B4-86C5-4CF83B80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57300"/>
            <a:ext cx="5429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Currency works when users understand the exchange.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79B0C-F86E-4504-A2CA-0E4DE93C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3375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E4C3D-441A-4575-9EB6-E6717D95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33750"/>
            <a:ext cx="4895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Useful for games, creator tools, and variable AI costs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CAD03-1197-4022-A8F6-0D4374CC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71925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8636E-3848-4719-817D-73EC8917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895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Bundles make comparison harder — use that responsibly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89D3C-19EF-43E4-8807-370A3F8E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76675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06DF0E-70BD-419B-A405-F1F50C53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1010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410E9-B8B1-44ED-BFC1-D2108526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10100"/>
            <a:ext cx="4895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Track liability, refunds, and unused balances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6C147-0591-40BD-93A6-DC980226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14850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F5EED-EE90-45A2-95CA-CE4D4A7D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39D9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39D94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825566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8C0547-D029-45C0-8226-B0CA2833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D4116-0DE4-45BA-9405-64785194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8330E-EB22-4324-9760-7F78FFF6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THE PURCHASE BUTTON IS ONLY ONE TRANSITION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3B022-313C-43FD-B974-0E2E3AF7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23950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75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Your real product is the purchase lifecycle.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23143-54C1-4A06-874C-49E09640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ED9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C9CC3-6585-4F5E-8077-ECA84D68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AVAILABLE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05ECE-D678-4843-B937-5CD67BFA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1543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Localized products and eligibility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50F5A-A0E0-4C3A-8587-901736FA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5275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96F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D7EDE-485A-42B3-BA02-7C4C6AB7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385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F8F34-33B9-4699-9437-DC10755B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71900"/>
            <a:ext cx="1543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Confirmation may leave the 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52CA9-0932-414E-8E19-FD5C8097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5275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96F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97250-5E5C-4A0B-B2B0-FBEF3E03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PURCHASED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335B4-28E4-4054-B65A-7A08E68E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71900"/>
            <a:ext cx="1543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Verified and acknowledged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FC91A-3BF9-475B-8CB3-E59F3BC5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5275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9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02CD2-C2E7-42CC-BE3E-C449AAEF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385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ENTITLED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AE97A-7D31-46D2-8273-A1D9428E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71900"/>
            <a:ext cx="1543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CustomerInfo unlocks access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4A944-E035-4AC7-9C7F-2FBA346E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5275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45B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FDEDDC-64B3-4C2D-852A-99F28DB6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385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RECOVERING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CD120C-D054-424B-89B5-70773E22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71900"/>
            <a:ext cx="1543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Retry, restore, offline cache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0E1706-B0D4-4FAD-9BE9-1DB0C227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5275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45B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D8BE53-3FD2-45B0-B693-2F5C5A8A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385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REVOKED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7A15CE-6EA8-4D77-AAA9-0F886493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71900"/>
            <a:ext cx="1543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Expiry, refund, mismatch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A1E235-8275-4615-AF54-9F39D45D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914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750" b="0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If any state is undefined, support becomes your state machine.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5F52C4-7E74-49DC-8C0F-5E30680B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39D9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39D94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063945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246DA0-64D8-40F0-9576-D4DFB756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461BC-2F74-4387-B738-948E73C7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7264B-4212-47CD-B870-73D22031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WHY REVENUECAT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3A9A6-7F1A-4662-AB42-6A282BE1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0150"/>
            <a:ext cx="542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0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75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One source of truth across stores and surfaces.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ECD93-9794-4A29-8EF6-FE3CE880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1207E-EAF8-4646-84A1-42F83D5D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5086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Normalizes purchase state and store quirks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84A2A-E6A1-4C97-BD05-13EAB252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9975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C729B-C170-4487-B6F9-37581CF9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9975"/>
            <a:ext cx="5086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Connects Android, iOS, and web to one customer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5B196-100E-412E-9498-F72B7E20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14725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718E2-74C5-4A32-B53C-CE4070FD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A30F1-F2F9-4532-89D3-12C3FDCC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5086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Paywalls, experiments, targeting, analytics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ABA32-9F50-4DA1-A32F-593C2F42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C0D37-2C08-412B-86C4-EAD33AAF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33925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834F8-2665-41D3-BDB7-ECEC6DF1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33925"/>
            <a:ext cx="5086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Free to $2.5k monthly tracked revenue; then 1%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5ACBC-CDA0-48FC-92E0-BF8D70B7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38675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aa4bd358a4ab6"/>
          <a:stretch xmlns:a="http://schemas.openxmlformats.org/drawingml/2006/main"/>
        </p:blipFill>
        <p:spPr>
          <a:xfrm xmlns:a="http://schemas.openxmlformats.org/drawingml/2006/main">
            <a:off x="6667500" y="1836520"/>
            <a:ext cx="4953000" cy="2556309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B73876-B97B-4A4C-8BB9-174F1F8B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914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750" b="0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RevenueCat product documentation and pricing · checked July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1083ED-CDD5-4F03-B8BB-31B3E8F9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39D9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39D94"/>
                </a:solidFill>
                <a:latin typeface="Menlo"/>
                <a:ea typeface="Menlo"/>
                <a:cs typeface="Menl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902618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02E23E-31E9-4FBD-8F52-5EAEFD33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48850-A222-4AC7-90FF-36A5AB8C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A3918-F28E-436E-B4CD-D9445B44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A0192-3E4F-4D14-BC99-F09F8C4B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239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75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Translate transactions into access.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E1987-8B1B-4282-A940-36DD90A0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09F7C-4A56-40E4-891C-718E8B10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81375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GOOGLE PLAY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OR 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DDB78-A981-41EF-9AB4-4951F56A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148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Owns the payment and transaction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4C8C3-6037-4F6A-8A76-D13C638C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385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C762D-D1A1-4B03-B188-8A920027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4800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45146-8BF5-46C5-9FC0-079B2931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81375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REVENUECAT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1C431-5A8A-4BA5-9C70-60AC4C0A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148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Validates and normalizes CustomerInfo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6A1D5-67CE-4CD8-BF91-F0843B89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385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E1ACF-BF02-46BC-A1C0-E71EAEC4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1EA85-7B4B-491E-9910-C32D0155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YOUR APP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1FA14-F449-4261-AB62-4EBEC9D1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148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Checks an entitlement and unlocks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A3DD7-624D-40AE-8101-6AF8EB74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39D9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39D94"/>
                </a:solidFill>
                <a:latin typeface="Menlo"/>
                <a:ea typeface="Menlo"/>
                <a:cs typeface="Menl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326923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596FD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FF096B-918E-47EA-A497-8CA06CD2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AC10A-8CF7-4771-9557-D5EA2C34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E7EAFF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E7EAFF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C3866-EAC9-4167-B0DC-3BA4AAEE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E869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E869"/>
                </a:solidFill>
                <a:latin typeface="Menlo"/>
                <a:ea typeface="Menlo"/>
                <a:cs typeface="Menlo"/>
              </a:rPr>
              <a:t>TWO DEPENDENCIES, THREE MOVES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ECC7A-DF42-4AD4-B56F-CEB176E2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533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Configure. Present. Unlock.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B20BB-4069-43F6-9361-31414EBD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4A3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E6229-2B07-4AE8-94B9-F55E1D29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E869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E869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4D0BA-BFD0-4775-9C26-833CF38B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D76F4-21EE-4097-9457-9EA0FF97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504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E7EAF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7EAFF"/>
                </a:solidFill>
                <a:latin typeface="Arial"/>
                <a:ea typeface="Arial"/>
                <a:cs typeface="Arial"/>
              </a:rPr>
              <a:t>Application start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9359D-FFE1-4AF4-A853-BE249B0C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1945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4A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5AB01-69D5-4C30-8BD2-13E78731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290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E869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E869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0792A-C478-44FB-BA36-CAF269C2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909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C7519-F0D2-412B-89E4-F48B993C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29100"/>
            <a:ext cx="1504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E7EAF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7EAFF"/>
                </a:solidFill>
                <a:latin typeface="Arial"/>
                <a:ea typeface="Arial"/>
                <a:cs typeface="Arial"/>
              </a:rPr>
              <a:t>Current offering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B4C49D-6819-4F84-B6E1-800CA144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19450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4A3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532158-AB2E-493A-8588-E79CD600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E869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E869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2BE232-C263-4D7A-A63B-7619D478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909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93B1D-AB9E-4887-951B-377AA3FA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29100"/>
            <a:ext cx="1504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E7EAF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7EAFF"/>
                </a:solidFill>
                <a:latin typeface="Arial"/>
                <a:ea typeface="Arial"/>
                <a:cs typeface="Arial"/>
              </a:rPr>
              <a:t>Entitlement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EF7B00-F82F-4D58-9AAF-D6F48898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257300"/>
            <a:ext cx="4857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9525">
            <a:solidFill>
              <a:srgbClr val="3032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1EA2B2-1C57-4B05-A15A-D3B67D33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85900"/>
            <a:ext cx="436245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// build.gradle.kts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implementation(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"com.revenuecat.purchases:" +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  "purchases:10.8.0"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// Includes Paywalls for Compose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implementation(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"com.revenuecat.purchases:" +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  "purchases-ui:10.8.0"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C46AA4-E7EE-42A6-A930-63084045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914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E7EAFF"/>
                </a:solidFill>
                <a:latin typeface="Menlo"/>
                <a:ea typeface="Menlo"/>
                <a:cs typeface="Menlo"/>
              </a:defRPr>
            </a:pPr>
            <a:r>
              <a:rPr sz="750" b="0" i="0">
                <a:solidFill>
                  <a:srgbClr val="E7EAFF"/>
                </a:solidFill>
                <a:latin typeface="Menlo"/>
                <a:ea typeface="Menlo"/>
                <a:cs typeface="Menlo"/>
              </a:rPr>
              <a:t>RevenueCat Android codelab · checked July 2026 · verify the latest version before shipping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96CC6B-8005-4307-830A-93E6D7CD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DDE3FF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DDE3FF"/>
                </a:solidFill>
                <a:latin typeface="Menlo"/>
                <a:ea typeface="Menlo"/>
                <a:cs typeface="Menl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058418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F00ABB-DE63-41E9-9788-9C89682E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8AD9C-530B-42E6-A594-27FA8B9E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DD190-A2DB-485F-B2CA-CB881345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01 · CONFIGURE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A0328-9033-4B15-BC98-DDB2813A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4476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Initialize once, as early as possible.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127CD-88FD-4E87-9CB8-A0002028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Use the public Google SDK key. Never ship a secret API key in the app.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4A569-3D20-4C92-B7A0-18CDB52C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04900"/>
            <a:ext cx="54292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9525">
            <a:solidFill>
              <a:srgbClr val="3032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04178-2A24-4FCC-B938-42D3240A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333500"/>
            <a:ext cx="49339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class MainApplication : Application() {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override fun onCreate() {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  super.onCreate()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  Purchases.logLevel = LogLevel.DEBUG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  Purchases.configure(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    PurchasesConfiguration.Builder(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      this, "goog_public_sdk_key"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    ).build()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  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5BD18-F62F-4B42-8810-249B0C79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914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750" b="0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RevenueCat Android SDK documentation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6FBEE4-EB67-4015-9CB4-EE0AEAF7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39D9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39D94"/>
                </a:solidFill>
                <a:latin typeface="Menlo"/>
                <a:ea typeface="Menlo"/>
                <a:cs typeface="Menl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755224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201981-8B33-426B-B5B7-2B39D6EB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D2B23-02CC-4D43-BED3-6717D450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04C66-754F-4D50-9597-15E7A5EB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IDENTITY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031F3-AE6B-47E9-A50A-FB292665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239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525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Your identity choice becomes subscription architecture.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371FD-03F3-4BB7-942B-8CECACF2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A4568-DA94-4E55-BB50-2B581DD0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95625"/>
            <a:ext cx="4848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Anonymous IDs fit no-login, single-device flows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D1FF0-5B05-4F90-95A8-2933C5FE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43325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5F85B-386E-4736-B654-5A403AB6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43325"/>
            <a:ext cx="4848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Custom IDs enable cross-device and cross-platform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67706-FDBF-4730-B33F-FBA8403A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519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EB7D6-AF5E-4E1A-8FCB-54369245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91025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97FC1-2DA3-43B9-80FC-B74C0B1E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91025"/>
            <a:ext cx="4848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Use a stable, non-guessable ID — never an email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34208-841C-4CCE-A0E9-338DBEE8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95775"/>
            <a:ext cx="519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EA6A2-51DE-45BF-A51C-A656A0C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4762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9525">
            <a:solidFill>
              <a:srgbClr val="3032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7A30D-C822-4D86-AE1A-133FCCC6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52600"/>
            <a:ext cx="426720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// Start anonymous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Purchases.configure(config)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// Identify after sign-in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Purchases.sharedInstance.logIn(appUserId) {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customerInfo, created, error -&gt;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// refresh access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893023-48B1-4AD0-A351-4F7E0D74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914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750" b="0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RevenueCat · Identifying Customers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95C0A6-CB0E-43A5-A6BF-51640CBE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39D9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39D94"/>
                </a:solidFill>
                <a:latin typeface="Menlo"/>
                <a:ea typeface="Menlo"/>
                <a:cs typeface="Menl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416621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FAEC14-9D7A-4827-B274-5E956541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52A39-AE7C-4AF6-B619-0540D1DE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42818-B096-4732-8A88-71A263CC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VOCABULARY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98E49-EBBD-426B-80BD-51F582EF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2395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3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Keep store configuration out of your UI language.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64AC8-F233-4313-BB08-4EBB1E90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84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ED9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E0A1D-63A3-4C1B-BCF8-83458D8C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1847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A8393-2A7F-403E-AD6F-507B8890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1847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A store SKU: monthly, annual, lifetime, credits.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E5AEC-1FA5-401C-82DC-A0249D40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57500"/>
            <a:ext cx="184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45B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9BA19-43B4-4B9C-89EF-5DDF60EB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81350"/>
            <a:ext cx="1847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PACKAGE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CBE4A-8276-4A1D-B749-4BE15426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33800"/>
            <a:ext cx="1847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Equivalent products across Android, iOS, and web.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BAEE6-17AE-4C61-A835-F0684850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57500"/>
            <a:ext cx="184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4E8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1681B-DB42-4ADF-B2B8-E4C523F6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81350"/>
            <a:ext cx="1847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OFFERING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CA8863-B053-489F-A817-F42AF3B6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33800"/>
            <a:ext cx="1847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The set of packages you choose to sell now.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FFD37-D571-483B-9AF9-5001877D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184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96F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2E9253-5108-4396-BE70-C0C92F60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81350"/>
            <a:ext cx="1847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PAYWALL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5C8FC-78C8-483D-BC7E-A9BA7519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33800"/>
            <a:ext cx="1847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The interface that presents an offering.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CA95E-F770-4F48-8CDC-4E568C64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57500"/>
            <a:ext cx="184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98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0406AB-8646-4896-BCC7-52C54252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81350"/>
            <a:ext cx="1847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ENTITLEMENT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B1AD48-3A45-4899-8834-612EB210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33800"/>
            <a:ext cx="1847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The durable access level a purchase unlocks.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6E62F-7738-49D3-86B0-80E3D829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39D9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39D94"/>
                </a:solidFill>
                <a:latin typeface="Menlo"/>
                <a:ea typeface="Menlo"/>
                <a:cs typeface="Menl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573711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CCBDF1-7BF6-4F6E-A464-8DDBD38D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F57C8-49C8-4CFC-AD6C-BCDC2747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F4DB8-5F31-41F1-B171-322B28E9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OFFERINGS · CHANGE THE OFFER, NOT THE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164DC-31AA-491C-B268-18D2D737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38250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525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Fetch the decision your UI should render.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3F527-CC7D-413E-A283-BA69E029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5C6BE-03E1-4BBA-9D8B-CF9ED133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4705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Dashboard chooses the current offering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C6DEA-06E4-4488-AAE9-1EA60394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401F5-4B9E-43C4-85BC-AA06BE23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71900"/>
            <a:ext cx="4705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Packages carry localized store products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EDA2C-26AD-4DB0-A04F-BFC45735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1720B-8589-4936-A487-8D64EFD8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FC36F-8230-4142-9605-86E73AC8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4705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Handle “no offering” as a real product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6F7BBD-E03C-461A-AB50-F829642F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609742-D9B0-45C7-82A3-27FFBBE4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00150"/>
            <a:ext cx="5143500" cy="4238625"/>
          </a:xfrm>
          <a:prstGeom xmlns:a="http://schemas.openxmlformats.org/drawingml/2006/main" prst="roundRect">
            <a:avLst>
              <a:gd name="adj" fmla="val 2697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9525">
            <a:solidFill>
              <a:srgbClr val="3032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4287DA-D572-4CF6-8F2A-325F6A87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28750"/>
            <a:ext cx="464820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val offering = try {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Purchases.sharedInstance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  .awaitOfferings()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  .current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} catch (e: PurchasesException) {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logger.warn(e) { "Offerings unavailable" }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null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val annual = offering?.annual?.storeProduct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EEF44-9705-4FFE-9082-660B779F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914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750" b="0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RevenueCat Android codelab · Offerings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C523D4-BF4E-4286-843C-21089928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39D9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39D94"/>
                </a:solidFill>
                <a:latin typeface="Menlo"/>
                <a:ea typeface="Menlo"/>
                <a:cs typeface="Menl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010574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E8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C7E820-44E5-4322-8005-E0FD3E32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423FB-1968-47A9-9581-094C3B53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53192-4AA8-4798-940D-B62F48E7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8B7600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8B7600"/>
                </a:solidFill>
                <a:latin typeface="Menlo"/>
                <a:ea typeface="Menlo"/>
                <a:cs typeface="Menlo"/>
              </a:rPr>
              <a:t>PAYWALLS · NATIVE UI, REMOTE DECISIONS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57047e78945aa"/>
          <a:stretch xmlns:a="http://schemas.openxmlformats.org/drawingml/2006/main"/>
        </p:blipFill>
        <p:spPr>
          <a:xfrm xmlns:a="http://schemas.openxmlformats.org/drawingml/2006/main">
            <a:off x="666750" y="2307766"/>
            <a:ext cx="5334000" cy="224246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0B89C-59E9-4FB5-9ADA-0F2C5C03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192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525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Ship the surface once. Keep learning after release.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612F9-F8DB-4249-8295-FA920042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ACEB9-7E04-432B-AA6E-8AD4327D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38500"/>
            <a:ext cx="4419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Pair one paywall with one offering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7F9C7-C43B-4E44-B813-3DF9DFBC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B2CA8-20B2-4A0C-9C9F-62085986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57625"/>
            <a:ext cx="4419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Edit copy, layout, and packages remotely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5F9D8-F470-4185-90BE-332AC158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623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5D1A5-5E61-4F8D-90D6-B903D8BA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0A947-08E4-4A09-A629-B36D8755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76750"/>
            <a:ext cx="4419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Measure views, starts, purchases, and restores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68B92-F9B6-452F-B148-B515C56F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95710A-83E4-499B-9C69-8510C308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39D9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39D94"/>
                </a:solidFill>
                <a:latin typeface="Menlo"/>
                <a:ea typeface="Menlo"/>
                <a:cs typeface="Menl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0603191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57555E-22FD-4A49-8B30-419844C9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C0366-69F8-4167-B7E0-A7324A4C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E1046-B22B-4470-A855-28D1587D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02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A8163-4BB8-4BCE-8EEB-A43260D9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2075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525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Gate the moment — not the whole app by accident.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A5F09-143C-4C06-A495-57EFEB1A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Present based on a required entitlement, then dismiss when purchase succeeds.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75FC0-A566-4BF5-A585-63999118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33500"/>
            <a:ext cx="5334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9525">
            <a:solidFill>
              <a:srgbClr val="3032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B783F-127C-449E-86AB-76B07DFF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62100"/>
            <a:ext cx="48387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@Composable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fun LockedFeature(onDismiss: () -&gt; Unit) {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PaywallDialog(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  PaywallDialogOptions.Builder()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    .setRequiredEntitlementIdentifier("pro")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    .setDismissRequest(onDismiss)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    .build()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8FF5B-D3C6-44B2-8051-E25753A4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914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750" b="0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RevenueCat · Displaying Paywalls on Android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8B2647-5086-4D50-B68B-31EFA7E4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39D9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39D94"/>
                </a:solidFill>
                <a:latin typeface="Menlo"/>
                <a:ea typeface="Menlo"/>
                <a:cs typeface="Menl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692267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ED8C96-1D8A-427E-B9DC-549A5A52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24B6A-733E-4229-AE4A-7C76BDD0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C8A59-6B06-4D6E-83C7-87E55889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A PAYWALL IS A PROMISE WITH A BUTTON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45DD8-91BC-4CE3-83EF-D8F9434D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23950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75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Answer five questions before asking for money.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C13E4-DC5C-444C-B1D6-1340D115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1924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0384E-8406-40C0-B812-864CF1AD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F0752-9B81-4282-BF08-212F558A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WHAT CHANGES?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4D0C8-4416-414A-893A-3D77909D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158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Name the outcome, not a list of premium features.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06ECD-9BF1-4243-A2AB-DC9CB5B3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24150"/>
            <a:ext cx="1924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2E99A-2D63-4EF0-AD20-2E7FE4D8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527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BE9B0-16F2-49F5-8399-5B21ABE8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2900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WHY NOW?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0D442-240D-4C1F-9072-2FECDB46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71950"/>
            <a:ext cx="158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Show it at a value moment, not on a timer.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34AA6-85B4-4474-B0FB-849CB542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24150"/>
            <a:ext cx="1924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32B31-6686-4C44-BC88-FC239B22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527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8B45BC-75AB-442B-803A-933A898E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2900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WHICH PLAN?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78C2C7-765A-455B-B3E9-2B9A1303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171950"/>
            <a:ext cx="158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Make monthly versus annual obvious.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38AEED-978C-4622-A78B-F196BB2A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24150"/>
            <a:ext cx="1924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E3801E-F1FC-4DD2-8340-D8618C8D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57A5C0-8A9C-4703-A4C4-9851BA1D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CAN I TRUST IT?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36092C-2AEF-4D42-A4F6-72FDE995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71950"/>
            <a:ext cx="158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Show localized price, terms, and trial details.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25E5D5-0983-4AD0-9AE5-E9889A9D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24150"/>
            <a:ext cx="1924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91D84B-88FE-4426-AECE-6E4282B8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527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6F2D23-5FD3-4A2C-B81C-D6AC2B7B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2900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CAN I RECOVER?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999FF1-BBDA-475B-8B3A-92AA4EA7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71950"/>
            <a:ext cx="158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Keep close, restore, account, and support visible.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C1A4DC-3FAA-4218-A62E-2A2A89A7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39D9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39D94"/>
                </a:solidFill>
                <a:latin typeface="Menlo"/>
                <a:ea typeface="Menlo"/>
                <a:cs typeface="Menl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50813850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ECC62E-30F6-44D2-B847-230D906F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BFF06-FA05-4E9C-88D4-EB2A0414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DC498-1F5B-43F8-A01B-09346862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EXPERIMENTS · LEARN ONE THING AT A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3D940-9317-4919-9236-2127BF5A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5143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75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Test decisions, not entire personalities.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612D6-C081-4AA1-B9D6-548E6C2A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DB0F3-8385-4DCD-A0B2-69DFB76A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480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Start with offer, price, trial, or annual emphasis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2117E-3337-4C7F-8E8D-1A219A28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EE035-1AE8-448D-B3FD-33261C8B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480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Keep acquisition source and audience visible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12603-52D5-4B07-B0A6-5A0E91BD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1881D0-6A5A-40D5-9B42-2631D9BF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8DD6A-551E-4A89-A980-FE2839C4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480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Optimize downstream retention, not only conversion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20336-6022-46A5-B05E-DD1FC9C4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666a7f4e3423c"/>
          <a:stretch xmlns:a="http://schemas.openxmlformats.org/drawingml/2006/main"/>
        </p:blipFill>
        <p:spPr>
          <a:xfrm xmlns:a="http://schemas.openxmlformats.org/drawingml/2006/main">
            <a:off x="6457950" y="2009477"/>
            <a:ext cx="4953000" cy="251519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1AA25-43EC-4F91-8E45-5D68C922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39D9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39D94"/>
                </a:solidFill>
                <a:latin typeface="Menlo"/>
                <a:ea typeface="Menlo"/>
                <a:cs typeface="Menl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1390501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596FD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E2314B-A201-4A2C-8253-C849E922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41645-82D0-4D9A-9D0A-AF9E5027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7A29A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7A29A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BE36F-1CE6-4337-8F1C-2EDD1AD3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E869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E869"/>
                </a:solidFill>
                <a:latin typeface="Menlo"/>
                <a:ea typeface="Menlo"/>
                <a:cs typeface="Menlo"/>
              </a:rPr>
              <a:t>ENTITLEMENTS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C8129-DED2-425D-BB81-09EBECDE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9334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4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Products change. Access should stay stable.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43DE7-B33C-49AA-B775-A4B176E3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148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25" b="0" i="0">
                <a:solidFill>
                  <a:srgbClr val="E7EA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E7EAFF"/>
                </a:solidFill>
                <a:latin typeface="Arial"/>
                <a:ea typeface="Arial"/>
                <a:cs typeface="Arial"/>
              </a:rPr>
              <a:t>Entitlements decouple what the customer bought from what your app unlocks.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EB831-666A-470B-8230-E3635493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8F8A8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8F8A84"/>
                </a:solidFill>
                <a:latin typeface="Menlo"/>
                <a:ea typeface="Menlo"/>
                <a:cs typeface="Menl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8984141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302638-B31A-42CE-88B5-1B17D838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51C18-9923-4DE8-A902-667117E5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C12B0-7664-4A21-9D55-077F8811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03 · UNLOCK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291E6-2D07-47A2-B9AA-4D390E01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47750"/>
            <a:ext cx="933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45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Ask one product question: “Does this customer have pro?”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ae35e9e6d49f5"/>
          <a:stretch xmlns:a="http://schemas.openxmlformats.org/drawingml/2006/main"/>
        </p:blipFill>
        <p:spPr>
          <a:xfrm xmlns:a="http://schemas.openxmlformats.org/drawingml/2006/main">
            <a:off x="800100" y="2832499"/>
            <a:ext cx="4572000" cy="251697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E78BC-F04E-4DDE-9F2D-05F0F8E3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57450"/>
            <a:ext cx="5334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9525">
            <a:solidFill>
              <a:srgbClr val="3032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50592-7695-4AC8-B6EE-2D69A892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86050"/>
            <a:ext cx="48387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Purchases.sharedInstance.getCustomerInfoWith(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onError = { error -&gt;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  // keep the last known access state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onSuccess = { customerInfo -&gt;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  val hasPro = customerInfo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    .entitlements["pro"]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    ?.isActive == true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5B4EA-9CAF-4A7C-AD56-352E8664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914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750" b="0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RevenueCat · Getting Subscription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0E40E9-A78E-48BE-8639-14F48CD7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39D9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39D94"/>
                </a:solidFill>
                <a:latin typeface="Menlo"/>
                <a:ea typeface="Menlo"/>
                <a:cs typeface="Menl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74334181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E8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1A5625-9830-4A67-ABF5-D4A861B8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CC3BC-03B1-4B5A-9196-5B30212C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5D8C9-A6BE-4EC6-B8A1-9735A24C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8B7600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8B7600"/>
                </a:solidFill>
                <a:latin typeface="Menlo"/>
                <a:ea typeface="Menlo"/>
                <a:cs typeface="Menlo"/>
              </a:rPr>
              <a:t>A RECOVERY JOURNEY, NOT A CHECKBOX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187C5-1805-4DDF-9B36-38F7C0A6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525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Restore purchases is a product feature.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0F264-2BD4-4C6A-98F0-0F2CF72C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BE016-81E3-46A3-AD32-C38BC929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4705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Trigger it from an explicit customer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28EEC-5367-4B85-8194-1EB03A20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EF597-ECDB-4F64-AA1F-6B4B779A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71900"/>
            <a:ext cx="4705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Refresh the same entitlement gate on success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0EC85-CCC6-4A6B-81AE-9756342D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0E4A6-D0C3-4C80-9857-18F125B9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29EB8-D2FE-434D-AC29-4C8A8031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4705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Show the App User ID in support diagnostics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9007AA-6EE4-4739-AC29-730340F2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25569B-CDF3-4F7B-80C6-21C32462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00150"/>
            <a:ext cx="5143500" cy="4333875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9525">
            <a:solidFill>
              <a:srgbClr val="3032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134F45-6B71-4EE6-B98B-B4F75E1A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28750"/>
            <a:ext cx="4648200" cy="387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Purchases.sharedInstance.restorePurchasesWith(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onError = { error -&gt;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  showRecoveryError(error)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onSuccess = { customerInfo -&gt;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  val restored = customerInfo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    .entitlements["pro"]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    ?.isActive == true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  updateAccess(restored)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B71941-5175-4EFA-9FD2-4864EE03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914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750" b="0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RevenueCat · Restoring Purchases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7547C-8B56-4DDE-BA7F-2CDF4DE0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39D9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39D94"/>
                </a:solidFill>
                <a:latin typeface="Menlo"/>
                <a:ea typeface="Menlo"/>
                <a:cs typeface="Menlo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63940154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A2DEA4-1789-44AA-929B-DE7953E5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9F618-B196-4AE2-AA99-67315ADE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8457E-E16E-4CE2-857A-D068E871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WEB BILLING · A NEW ROUTE INTO THE SAME ENTITLEMENT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829DD-8ACB-4CFA-BA84-6117C5C6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5619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525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Web expands acquisition — not just payment options.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72300-9182-4B43-8445-BC5FCBAB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7E3D5-9CB7-4AC4-967B-DDBC66A2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4991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Campaigns, email, creators, bundles, and win-back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FE737-22EC-4666-A9FB-01BFA25F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5445D-87DC-401A-B047-03824221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991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Web links, paywalls, SDK, or funnels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510B2-7E7C-4D22-B655-8FFD183F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3C82B-4AA0-40B3-A238-EEB87CB9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49FE2-AD92-401A-BDBB-D78424D3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4991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One CustomerInfo unlocks the same Android experience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CE1B5-BCBB-46B9-9EAA-2EAC23BE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fe1ea3bfc4fef"/>
          <a:stretch xmlns:a="http://schemas.openxmlformats.org/drawingml/2006/main"/>
        </p:blipFill>
        <p:spPr>
          <a:xfrm xmlns:a="http://schemas.openxmlformats.org/drawingml/2006/main">
            <a:off x="7029238" y="1009650"/>
            <a:ext cx="3686600" cy="314325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5d1a183084bc8"/>
          <a:stretch xmlns:a="http://schemas.openxmlformats.org/drawingml/2006/main"/>
        </p:blipFill>
        <p:spPr>
          <a:xfrm xmlns:a="http://schemas.openxmlformats.org/drawingml/2006/main">
            <a:off x="7449433" y="4171950"/>
            <a:ext cx="2912884" cy="18097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43372D-902D-4D56-8061-16675EFB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914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750" b="0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RevenueCat Web documentation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E2194-2062-4D86-A09D-873BCE88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39D9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39D94"/>
                </a:solidFill>
                <a:latin typeface="Menlo"/>
                <a:ea typeface="Menlo"/>
                <a:cs typeface="Menlo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65844870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5B6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88006A-3C10-42EF-B5D8-8497A75B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0D154-7EA7-499F-9717-AC10E7AA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FFE8E6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FFE8E6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D4ED2-FE56-4533-B9C9-828C5BBD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WEB →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E68B2-14C6-479F-8CF9-D7FCDC4A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5334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5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best checkout still loses if access is hard to redeem.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2379C-9F05-45E9-B1EC-78216E88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47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ABB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AC014-2287-461C-B5B3-5270B33F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23118-E702-41C5-9FC7-2D6A1119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PURCHASE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5E5B9-7D06-4725-B9A4-202A1B37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FFE8E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FE8E6"/>
                </a:solidFill>
                <a:latin typeface="Arial"/>
                <a:ea typeface="Arial"/>
                <a:cs typeface="Arial"/>
              </a:rPr>
              <a:t>Customer pays on the 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7C08A-2AD5-4F0E-8C23-8633959B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29000"/>
            <a:ext cx="147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ABB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81F80-C00E-4EF8-9A56-469D0168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38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6B956-F149-4B3A-B1E7-CBF8E2F8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005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76019-59AF-42D5-9BEB-7026CE33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57700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FFE8E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FE8E6"/>
                </a:solidFill>
                <a:latin typeface="Arial"/>
                <a:ea typeface="Arial"/>
                <a:cs typeface="Arial"/>
              </a:rPr>
              <a:t>Landing page and email deep-link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5549F-A875-4B42-BA38-8D19FBC4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29000"/>
            <a:ext cx="147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ABB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5F078-16BB-43DB-A440-DD368496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38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211C1E-BF3D-4338-B8C0-2E74A73F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005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70E0AC-B022-4066-B310-FBC92402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57700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FFE8E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FE8E6"/>
                </a:solidFill>
                <a:latin typeface="Arial"/>
                <a:ea typeface="Arial"/>
                <a:cs typeface="Arial"/>
              </a:rPr>
              <a:t>App redeems and refreshes access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7a75b860543b7"/>
          <a:stretch xmlns:a="http://schemas.openxmlformats.org/drawingml/2006/main"/>
        </p:blipFill>
        <p:spPr>
          <a:xfrm xmlns:a="http://schemas.openxmlformats.org/drawingml/2006/main">
            <a:off x="6572250" y="2043708"/>
            <a:ext cx="4857750" cy="2732484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8E63D-73A2-4C2F-9454-9CAE2CBA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FFE8E6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FFE8E6"/>
                </a:solidFill>
                <a:latin typeface="Menlo"/>
                <a:ea typeface="Menlo"/>
                <a:cs typeface="Menlo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4314118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FE4245-5ECC-4406-B16A-68258C25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25B6D-19B8-4904-BAE2-02DFF7AC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06254-39EF-4F34-8BBC-E6D39C45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U.S. BILLING IN 2026 · RE-CHECK BEFORE SHIPPING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1C216-6ADD-4F24-A7D4-4CF8F896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23950"/>
            <a:ext cx="876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75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More choice does not mean fewer obligations.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BF23E-AB40-43D6-9B10-96A8A984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45B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10203-4F86-49E8-AF71-58DD48D8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ENROLL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5734A-8A36-493B-903E-09136941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23241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Use the relevant U.S. alternative billing or external-link program.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190DA-9071-483C-BBF2-F680AF4B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7655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45B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B1E2D-5A76-4AF4-A6B9-BC34BBA4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813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OFFER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0F54C-1C09-41E6-A9AC-DC4C1010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33800"/>
            <a:ext cx="23241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Program flows present Play Billing alongside the alternative route.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B7266-9954-4973-928C-DE4C0972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7655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45B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595D0-FC3E-4D79-91A3-76486838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813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CURRENT APIs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E131FE-AAD3-486E-9A55-46FE0A07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33800"/>
            <a:ext cx="23241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Billing choice requires Play Billing Library 9.1+.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D16A1-77A7-41FC-9C91-C6620472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7655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45B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557849-246F-4B49-AA37-92E241F8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671494-EE42-43ED-88D6-6F8DD8E7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33800"/>
            <a:ext cx="23241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External transaction tokens connect purchases to Play reporting.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B09D1-58D9-4FFC-A704-09CF4DBE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914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750" b="0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Google Play Payments policy · U.S. policy update · Billing Choice program · checked 2026-07-15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F59317-4ADD-408E-9E06-B4C39FEA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39D9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39D94"/>
                </a:solidFill>
                <a:latin typeface="Menlo"/>
                <a:ea typeface="Menlo"/>
                <a:cs typeface="Menlo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96575219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313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A73F01-0D1F-4EC0-B59D-239761DB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9B27C-27D3-483C-8B6B-41BEB5C1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7736C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7736C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4071E-6407-43F1-8607-A9AD7E17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DO NOT HARDCODE A COURT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CE063-C2DA-40A7-BEF3-D1D030DF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5143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checkout routing a server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546C6-73EB-40B1-858C-AAAAB20C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BF039-A26A-4ABD-A8D0-3E465B3B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4800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Inputs: region, enrollment, app version, eligibility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51FAB-D0C8-4CDD-956A-571CE70F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9BEC9-4D4C-48FC-9ABE-2FED6898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4800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Output: Play, user choice, or permitted external route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75AAA-342C-41D2-9F11-E19F389F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37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2B88E-3580-4E81-B10C-75E3CD44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45B6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B6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B2706-606B-40C2-8D3D-3D1C2797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4800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Ship a safe default when config is missing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0849A-9643-47BD-80F2-014362EC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37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2B0E51-A227-4B9F-8E8D-4010141C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90650"/>
            <a:ext cx="5143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9525">
            <a:solidFill>
              <a:srgbClr val="3032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21920A-A5C4-4C25-9695-D27F986A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19250"/>
            <a:ext cx="46482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when (checkoutConfig.route) {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PLAY_BILLING -&gt; showPlayPaywall()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USER_CHOICE  -&gt; showBillingChoice()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EXTERNAL_WEB -&gt; openApprovedLink()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  else         -&gt; showPlayPaywall()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// Config comes from your backend.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F2F1E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F2F1EC"/>
                </a:solidFill>
                <a:latin typeface="Menlo"/>
                <a:ea typeface="Menlo"/>
                <a:cs typeface="Menlo"/>
              </a:rPr>
              <a:t>// Re-check policy before every release.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A2E46-DD9E-4121-AB0A-64BD2ACF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7736C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7736C"/>
                </a:solidFill>
                <a:latin typeface="Menlo"/>
                <a:ea typeface="Menlo"/>
                <a:cs typeface="Menlo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73713589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7885FA-1B6A-4061-A0B0-52654810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58C8D-A24A-400B-B386-E87AC92C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46052-297C-4B8F-A7FE-2340AB0C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BEFORE LAUNCH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2404B-6E33-47F5-A040-FD3BBCCA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04900"/>
            <a:ext cx="952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0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525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A monetization launch is ready when the unhappy paths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B5B2E-A18D-44DE-A81E-EC25ACA4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D924C-BADB-49B5-B735-19E717E3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194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C9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C98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0979F-82CF-476D-A688-3F302BE9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99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Model matches the value rhythm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8CA4E-FC26-4C55-AC1B-0C0D609C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3F5CB-A420-42BA-A110-F011006D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194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C9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C98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EBB27-DD3E-4B30-A4BA-D7725955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099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Products map to stable entitlements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27CD07-42CC-4749-B932-BEB70F60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BC8DF-8AB7-4290-967F-E1FFDC5B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05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C9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C98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9FFD8-58BD-4C7E-815D-66BA2B2F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957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Identity flows are deliberate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CCD09-6B7F-4B5C-A71A-D12DD392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ADFD43-80AB-47D9-8134-01CE81C4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05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C9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C98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2C304-4723-403B-A0C6-68DEBA65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957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Paywall has restore and a clear promise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8EDDB-CBA4-443A-9920-15B9FCBD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99D319-B202-4EFE-A54F-F30B4A67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910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C9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C98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D14D00-3348-4345-9176-D00126A2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815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Refunds, retry, and offline state are tested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6D8BA9-DE98-4B60-BBBC-8B046AB9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FBAE6D-3D02-4A92-9695-BED1A3BE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910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C9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C98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21149C-1338-4262-9741-9EAB0665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Conversion and retention are measured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B7E2E5-D978-4425-BFCB-29A83D6E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F180D9-0D76-42A1-9098-04274A56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768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C9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C98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6D1A88-0B00-4836-8E46-6FD7E70D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673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Support can find a customer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E98B44-A06E-4535-BBA5-C7FBE841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149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9C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8DB861-8192-41FF-9789-60C60D2E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768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C9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C98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13D44D-2157-4E48-917F-FEB63060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673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Policy checked per region before release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E0B82A-5D4E-4A0D-A9DE-3FC5D044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39D9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39D94"/>
                </a:solidFill>
                <a:latin typeface="Menlo"/>
                <a:ea typeface="Menlo"/>
                <a:cs typeface="Menlo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6359709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596FD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25A156-56FA-4278-9229-40A97C5A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F6DD-1333-4F7E-93FA-37FCD507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7A29A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7A29A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10181-E655-4655-B127-C460A4E8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E869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E869"/>
                </a:solidFill>
                <a:latin typeface="Menlo"/>
                <a:ea typeface="Menlo"/>
                <a:cs typeface="Menlo"/>
              </a:rPr>
              <a:t>THE TAKEAWAY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007D3-3A8C-49D1-A948-F1EEA5DC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9334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4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Monetize in the same rhythm that you create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B2C47-F93C-46D2-A8F5-C253D657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148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25" b="0" i="0">
                <a:solidFill>
                  <a:srgbClr val="E7EA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E7EAFF"/>
                </a:solidFill>
                <a:latin typeface="Arial"/>
                <a:ea typeface="Arial"/>
                <a:cs typeface="Arial"/>
              </a:rPr>
              <a:t>Then make purchase state boring, access stable, and the offer easy to change.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FE3C4-A35C-48DB-9191-D20070C5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8F8A8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8F8A84"/>
                </a:solidFill>
                <a:latin typeface="Menlo"/>
                <a:ea typeface="Menlo"/>
                <a:cs typeface="Menlo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46948925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D2FCBF-13A5-42B7-B510-911ABEA1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REVENUECAT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DE079-1FC3-4795-BACD-27DE727A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46F67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746F67"/>
                </a:solidFill>
                <a:latin typeface="Menlo"/>
                <a:ea typeface="Menlo"/>
                <a:cs typeface="Menlo"/>
              </a:rPr>
              <a:t>DROIDCON USA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D0DD2-0571-4361-8DF8-FD07F4D8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45B63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45B63"/>
                </a:solidFill>
                <a:latin typeface="Menlo"/>
                <a:ea typeface="Menlo"/>
                <a:cs typeface="Menlo"/>
              </a:rPr>
              <a:t>QUESTIONS?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4922B-A136-462B-AAB6-5E4DAAB1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5905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575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4575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Go build something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575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4575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worth paying for.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55476-251A-494F-BAC5-6553311E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Perttu Lähteenlahti · @plahteenlahti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8589996554852"/>
          <a:stretch xmlns:a="http://schemas.openxmlformats.org/drawingml/2006/main"/>
        </p:blipFill>
        <p:spPr>
          <a:xfrm xmlns:a="http://schemas.openxmlformats.org/drawingml/2006/main">
            <a:off x="800100" y="390525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60D8C-CA9C-43A1-9973-95415551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57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3131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31313"/>
                </a:solidFill>
                <a:latin typeface="Arial"/>
                <a:ea typeface="Arial"/>
                <a:cs typeface="Arial"/>
              </a:rPr>
              <a:t>FULL GUIDE + 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97EED-10E6-4FF9-B106-7CFF7B40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7675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746F6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46F67"/>
                </a:solidFill>
                <a:latin typeface="Arial"/>
                <a:ea typeface="Arial"/>
                <a:cs typeface="Arial"/>
              </a:rPr>
              <a:t>perttu.dev/articles/how-to-make-money-with-your-android-app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84be924b1440f"/>
          <a:srcRect xmlns:a="http://schemas.openxmlformats.org/drawingml/2006/main" l="6711" t="0" r="67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933450"/>
            <a:ext cx="3143250" cy="4857750"/>
          </a:xfrm>
          <a:prstGeom xmlns:a="http://schemas.openxmlformats.org/drawingml/2006/main" prst="roundRect">
            <a:avLst>
              <a:gd name="adj" fmla="val 4242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17E30-3CE6-49C7-B2F7-DB26D790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A39D9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39D94"/>
                </a:solidFill>
                <a:latin typeface="Menlo"/>
                <a:ea typeface="Menlo"/>
                <a:cs typeface="Menlo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8729540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2026-07-15T10:42:54.8220000Z</dcterms:created>
  <dcterms:modified xsi:type="dcterms:W3CDTF">2026-07-15T10:42:54.8220000Z</dcterms:modified>
</coreProperties>
</file>